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058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EA851B"/>
                </a:solidFill>
                <a:latin typeface="Pretendard ExtraBold"/>
              </a:rPr>
              <a:t>Week 2  ·  1조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058400" cy="1371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0">
                <a:solidFill>
                  <a:srgbClr val="181818"/>
                </a:solidFill>
                <a:latin typeface="Pretendard Black"/>
              </a:rPr>
              <a:t>Deep Learning 입문 — UNet · pix2pix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7A7A7A"/>
                </a:solidFill>
                <a:latin typeface="Pretendard SemiBold"/>
              </a:rPr>
              <a:t>슬라이스 보간을 학습 가능한 함수로 정식화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17920"/>
            <a:ext cx="10058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A7A7A"/>
                </a:solidFill>
                <a:latin typeface="Pretendard Medium"/>
              </a:rPr>
              <a:t>Digital Rock — Sparse Slice Interpolation · 6주 학생 코스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이번 주 학습 목표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W2 · DL 입문 · 1조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2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9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900" b="0">
                <a:solidFill>
                  <a:srgbClr val="181818"/>
                </a:solidFill>
                <a:latin typeface="Pretendard SemiBold"/>
              </a:rPr>
              <a:t>UNet의 encoder/decoder/skip-connection 구조 분석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9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900" b="0">
                <a:solidFill>
                  <a:srgbClr val="181818"/>
                </a:solidFill>
                <a:latin typeface="Pretendard SemiBold"/>
              </a:rPr>
              <a:t>pix2pix — 조건부 image-to-image 학습의 구조적 핵심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9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900" b="0">
                <a:solidFill>
                  <a:srgbClr val="181818"/>
                </a:solidFill>
                <a:latin typeface="Pretendard SemiBold"/>
              </a:rPr>
              <a:t>SliceDataset — sparse triplet (before, middle, after) 데이터 구성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9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900" b="0">
                <a:solidFill>
                  <a:srgbClr val="181818"/>
                </a:solidFill>
                <a:latin typeface="Pretendard SemiBold"/>
              </a:rPr>
              <a:t>mini UNet (~30K–120K params) 학습 + 평가 지표 해석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9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900" b="0">
                <a:solidFill>
                  <a:srgbClr val="181818"/>
                </a:solidFill>
                <a:latin typeface="Pretendard SemiBold"/>
              </a:rPr>
              <a:t>W1 Linear baseline 대비 정량 비교 + cross-domain 일반화 평가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UNet · pix2pix 한눈에 보기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W2 · DL 입문 · 1조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3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Black"/>
              </a:rPr>
              <a:t>Encoder (수축 경로)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Conv + MaxPool 반복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영상이 작아지며 특징 추상화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높은 수준의 표현 추출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63040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Black"/>
              </a:rPr>
              <a:t>Decoder (확장 경로)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ConvTranspose로 해상도 복원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Skip-connection으로 detail 복구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픽셀 단위 출력 생성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212080"/>
            <a:ext cx="11155680" cy="914400"/>
          </a:xfrm>
          <a:prstGeom prst="roundRect">
            <a:avLst/>
          </a:prstGeom>
          <a:solidFill>
            <a:srgbClr val="FA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2960" y="5440680"/>
            <a:ext cx="107899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0">
                <a:solidFill>
                  <a:srgbClr val="EA851B"/>
                </a:solidFill>
                <a:latin typeface="Pretendard ExtraBold"/>
              </a:rPr>
              <a:t>Skip-connection이 UNet의 핵심 — Encoder의 detail을 Decoder로 직접 전달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mini UNet 사양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W2 · DL 입문 · 1조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4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27432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EA851B"/>
                </a:solidFill>
                <a:latin typeface="Pretendard ExtraBold"/>
              </a:rPr>
              <a:t>입력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371600"/>
            <a:ext cx="82296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81818"/>
                </a:solidFill>
                <a:latin typeface="Pretendard SemiBold"/>
              </a:rPr>
              <a:t>(2, H, W) — [slice_before, slice_after]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27432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EA851B"/>
                </a:solidFill>
                <a:latin typeface="Pretendard ExtraBold"/>
              </a:rPr>
              <a:t>출력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011680"/>
            <a:ext cx="82296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81818"/>
                </a:solidFill>
                <a:latin typeface="Pretendard SemiBold"/>
              </a:rPr>
              <a:t>(1, H, W) — predicted middle slice (sigmoid)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51760"/>
            <a:ext cx="27432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EA851B"/>
                </a:solidFill>
                <a:latin typeface="Pretendard ExtraBold"/>
              </a:rPr>
              <a:t>깊이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651760"/>
            <a:ext cx="82296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81818"/>
                </a:solidFill>
                <a:latin typeface="Pretendard SemiBold"/>
              </a:rPr>
              <a:t>Encoder · Decoder 각 3단계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291839"/>
            <a:ext cx="27432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EA851B"/>
                </a:solidFill>
                <a:latin typeface="Pretendard ExtraBold"/>
              </a:rPr>
              <a:t>Skip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291839"/>
            <a:ext cx="82296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81818"/>
                </a:solidFill>
                <a:latin typeface="Pretendard SemiBold"/>
              </a:rPr>
              <a:t>각 단계마다 encoder → decoder 연결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931920"/>
            <a:ext cx="27432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EA851B"/>
                </a:solidFill>
                <a:latin typeface="Pretendard ExtraBold"/>
              </a:rPr>
              <a:t>파라미터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931920"/>
            <a:ext cx="82296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81818"/>
                </a:solidFill>
                <a:latin typeface="Pretendard SemiBold"/>
              </a:rPr>
              <a:t>base=8 → ~29K · base=16 → ~117K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572000"/>
            <a:ext cx="27432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EA851B"/>
                </a:solidFill>
                <a:latin typeface="Pretendard ExtraBold"/>
              </a:rPr>
              <a:t>학습 시간 (CPU)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4572000"/>
            <a:ext cx="82296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81818"/>
                </a:solidFill>
                <a:latin typeface="Pretendard SemiBold"/>
              </a:rPr>
              <a:t>fast 10분 / standard 30분 / full 60분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SliceDataset — sparse triplet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W2 · DL 입문 · 1조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5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EA851B"/>
                </a:solidFill>
                <a:latin typeface="Pretendard ExtraBold"/>
              </a:rPr>
              <a:t>한 sample = (input 2채널, target 1채널)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11155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input = [slice_before, slice_after] — sparse 측정에서 얻은 앞·뒤 슬라이스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target = slice_middle — 가운데 슬라이스 GT (학습 시에만 사용)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patch_size=64 random crop으로 학습 가속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augment=True — flip 증강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학습 옵션 (PRESET)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W2 · DL 입문 · 1조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6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21945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EA851B"/>
                </a:solidFill>
                <a:latin typeface="Pretendard Black"/>
              </a:rPr>
              <a:t>Preset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554480"/>
            <a:ext cx="21945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EA851B"/>
                </a:solidFill>
                <a:latin typeface="Pretendard Black"/>
              </a:rPr>
              <a:t>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1554480"/>
            <a:ext cx="21945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EA851B"/>
                </a:solidFill>
                <a:latin typeface="Pretendard Black"/>
              </a:rPr>
              <a:t>Epochs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554480"/>
            <a:ext cx="21945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EA851B"/>
                </a:solidFill>
                <a:latin typeface="Pretendard Black"/>
              </a:rPr>
              <a:t>Time (CPU)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0" y="1554480"/>
            <a:ext cx="21945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EA851B"/>
                </a:solidFill>
                <a:latin typeface="Pretendard Black"/>
              </a:rPr>
              <a:t>Params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86000"/>
            <a:ext cx="21945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81818"/>
                </a:solidFill>
                <a:latin typeface="Pretendard SemiBold"/>
              </a:rPr>
              <a:t>fast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2286000"/>
            <a:ext cx="21945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81818"/>
                </a:solidFill>
                <a:latin typeface="Pretendard SemiBold"/>
              </a:rPr>
              <a:t>base=8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2286000"/>
            <a:ext cx="21945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81818"/>
                </a:solidFill>
                <a:latin typeface="Pretendard SemiBold"/>
              </a:rPr>
              <a:t>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2286000"/>
            <a:ext cx="21945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81818"/>
                </a:solidFill>
                <a:latin typeface="Pretendard SemiBold"/>
              </a:rPr>
              <a:t>~10분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286000"/>
            <a:ext cx="21945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81818"/>
                </a:solidFill>
                <a:latin typeface="Pretendard SemiBold"/>
              </a:rPr>
              <a:t>~29K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926080"/>
            <a:ext cx="21945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81818"/>
                </a:solidFill>
                <a:latin typeface="Pretendard SemiBold"/>
              </a:rPr>
              <a:t>standard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2926080"/>
            <a:ext cx="21945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81818"/>
                </a:solidFill>
                <a:latin typeface="Pretendard SemiBold"/>
              </a:rPr>
              <a:t>base=16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926080"/>
            <a:ext cx="21945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81818"/>
                </a:solidFill>
                <a:latin typeface="Pretendard SemiBold"/>
              </a:rPr>
              <a:t>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2926080"/>
            <a:ext cx="21945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81818"/>
                </a:solidFill>
                <a:latin typeface="Pretendard SemiBold"/>
              </a:rPr>
              <a:t>~30분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0" y="2926080"/>
            <a:ext cx="21945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81818"/>
                </a:solidFill>
                <a:latin typeface="Pretendard SemiBold"/>
              </a:rPr>
              <a:t>~117K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566160"/>
            <a:ext cx="21945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81818"/>
                </a:solidFill>
                <a:latin typeface="Pretendard SemiBold"/>
              </a:rPr>
              <a:t>full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3566160"/>
            <a:ext cx="21945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81818"/>
                </a:solidFill>
                <a:latin typeface="Pretendard SemiBold"/>
              </a:rPr>
              <a:t>base=16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3566160"/>
            <a:ext cx="21945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81818"/>
                </a:solidFill>
                <a:latin typeface="Pretendard SemiBold"/>
              </a:rPr>
              <a:t>100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3566160"/>
            <a:ext cx="21945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81818"/>
                </a:solidFill>
                <a:latin typeface="Pretendard SemiBold"/>
              </a:rPr>
              <a:t>~60분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0" y="3566160"/>
            <a:ext cx="21945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81818"/>
                </a:solidFill>
                <a:latin typeface="Pretendard SemiBold"/>
              </a:rPr>
              <a:t>~117K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학습 루프 — 한 epoch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W2 · DL 입문 · 1조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7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Consolas"/>
              </a:rPr>
              <a:t>for batch in DataLoader: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Consolas"/>
              </a:rPr>
              <a:t>    optimizer.zero_grad()      # 그래디언트 초기화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Consolas"/>
              </a:rPr>
              <a:t>    pred = model(input)        # forward pass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Consolas"/>
              </a:rPr>
              <a:t>    loss = L1(pred, target)    # 손실 계산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Consolas"/>
              </a:rPr>
              <a:t>    loss.backward()            # gradient 계산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Consolas"/>
              </a:rPr>
              <a:t>    optimizer.step()           # 가중치 갱신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9496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EA851B"/>
                </a:solidFill>
                <a:latin typeface="Pretendard SemiBold"/>
              </a:rPr>
              <a:t>epoch 단위로 위 루프를 반복. loss가 감소하면 학습 진행 중.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평가 — W1 baseline 대비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W2 · DL 입문 · 1조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8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1155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9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900" b="0">
                <a:solidFill>
                  <a:srgbClr val="181818"/>
                </a:solidFill>
                <a:latin typeface="Pretendard SemiBold"/>
              </a:rPr>
              <a:t>학습 후 전체 BB 부피의 누락 슬라이스를 모델로 복원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9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900" b="0">
                <a:solidFill>
                  <a:srgbClr val="181818"/>
                </a:solidFill>
                <a:latin typeface="Pretendard SemiBold"/>
              </a:rPr>
              <a:t>|Δφ| · SSIM 을 W1 Linear baseline 결과와 비교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9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900" b="0">
                <a:solidFill>
                  <a:srgbClr val="181818"/>
                </a:solidFill>
                <a:latin typeface="Pretendard SemiBold"/>
              </a:rPr>
              <a:t>네 도메인(BB·CG·Bentheimer·Parker) 평가 → cross-domain 일반화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9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900" b="0">
                <a:solidFill>
                  <a:srgbClr val="181818"/>
                </a:solidFill>
                <a:latin typeface="Pretendard SemiBold"/>
              </a:rPr>
              <a:t>학습 곡선·평가 표·시각 비교를 종합 분석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탐구 과제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W2 · DL 입문 · 1조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9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1155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필수 1 — fast / standard preset 비교 (시간 · 파라미터 · |Δφ| · SSIM + 학습 곡선)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필수 2 — Cross-domain 일반화 평가 (4개 도메인)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선택 3 — L1 vs L2 loss 비교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선택 4 — Learning rate sensitivity (1e-4 ~ 5e-3 sweep)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486400"/>
            <a:ext cx="11155680" cy="731520"/>
          </a:xfrm>
          <a:prstGeom prst="roundRect">
            <a:avLst/>
          </a:prstGeom>
          <a:solidFill>
            <a:srgbClr val="FA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5669280"/>
            <a:ext cx="107899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181818"/>
                </a:solidFill>
                <a:latin typeface="Pretendard Medium"/>
              </a:rPr>
              <a:t>자세한 안내는 handout 참조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본 연구 모델의 예측 범위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W2 · DL 입문 · 1조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10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700" b="0">
                <a:solidFill>
                  <a:srgbClr val="181818"/>
                </a:solidFill>
                <a:latin typeface="Pretendard SemiBold"/>
              </a:rPr>
              <a:t>본 연구 모델: 한 번의 예측마다 가운데 슬라이스 1장 출력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700" b="0">
                <a:solidFill>
                  <a:srgbClr val="181818"/>
                </a:solidFill>
                <a:latin typeface="Pretendard SemiBold"/>
              </a:rPr>
              <a:t>입력 = 예측 위치 기준 6개 측정 슬라이스 (z±3, z±9, z±15)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700" b="0">
                <a:solidFill>
                  <a:srgbClr val="181818"/>
                </a:solidFill>
                <a:latin typeface="Pretendard SemiBold"/>
              </a:rPr>
              <a:t>학습 시나리오: k=2 정규 측정 (짝수 측정 / 홀수 예측)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700" b="0">
                <a:solidFill>
                  <a:srgbClr val="181818"/>
                </a:solidFill>
                <a:latin typeface="Pretendard SemiBold"/>
              </a:rPr>
              <a:t>z=4·7 측정 상태에서 z=5·6을 모두 복원하려면 모델을 두 번 호출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700" b="0">
                <a:solidFill>
                  <a:srgbClr val="181818"/>
                </a:solidFill>
                <a:latin typeface="Pretendard SemiBold"/>
              </a:rPr>
              <a:t>학습 분포 밖의 불규칙 측정 패턴은 정확도가 떨어질 수 있음 — W6에서 다룸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다음 주차 예고 — W3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W2 · DL 입문 · 1조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11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972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EA851B"/>
                </a:solidFill>
                <a:latin typeface="Pretendard ExtraBold"/>
              </a:rPr>
              <a:t>적대적 학습 — pix2pix GAN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945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L1 손실만으로는 흐릿한 복원이 한계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pix2pix + patch discriminator → 조건부 GAN 학습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학습 안정화 · loss weight 균형 · 평가 metric 확장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Q &amp; 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W2 · DL 입문 · 1조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12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10972800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0">
                <a:solidFill>
                  <a:srgbClr val="181818"/>
                </a:solidFill>
                <a:latin typeface="Pretendard ExtraBold"/>
              </a:rPr>
              <a:t>질문 · 토론 환영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