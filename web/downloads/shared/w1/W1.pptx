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058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EA851B"/>
                </a:solidFill>
                <a:latin typeface="Pretendard ExtraBold"/>
              </a:rPr>
              <a:t>Week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058400" cy="1371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0">
                <a:solidFill>
                  <a:srgbClr val="181818"/>
                </a:solidFill>
                <a:latin typeface="Pretendard Black"/>
              </a:rPr>
              <a:t>데이터 탐색 + Classical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100584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7A7A7A"/>
                </a:solidFill>
                <a:latin typeface="Pretendard SemiBold"/>
              </a:rPr>
              <a:t>Voxel · 전처리 · sparse imaging · Linear / Cubic 보간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17920"/>
            <a:ext cx="100584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A7A7A"/>
                </a:solidFill>
                <a:latin typeface="Pretendard Medium"/>
              </a:rPr>
              <a:t>Digital Rock — Sparse Slice Interpolation · 6주 학생 코스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6주 코스 한눈에 보기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W1 · 데이터 + Classical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2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9144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EA851B"/>
                </a:solidFill>
                <a:latin typeface="Pretendard Black"/>
              </a:rPr>
              <a:t>W1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1417320"/>
            <a:ext cx="8229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81818"/>
                </a:solidFill>
                <a:latin typeface="Pretendard SemiBold"/>
              </a:rPr>
              <a:t>데이터 탐색 + Classical Baseline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1417320"/>
            <a:ext cx="1828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0">
                <a:solidFill>
                  <a:srgbClr val="7A7A7A"/>
                </a:solidFill>
                <a:latin typeface="Pretendard ExtraBold"/>
              </a:rPr>
              <a:t>오늘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30552"/>
            <a:ext cx="9144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EA851B"/>
                </a:solidFill>
                <a:latin typeface="Pretendard Black"/>
              </a:rPr>
              <a:t>W2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130552"/>
            <a:ext cx="8229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81818"/>
                </a:solidFill>
                <a:latin typeface="Pretendard SemiBold"/>
              </a:rPr>
              <a:t>Deep Learning 입문 — UNet · pix2pix 구조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2130552"/>
            <a:ext cx="1828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0">
                <a:solidFill>
                  <a:srgbClr val="7A7A7A"/>
                </a:solidFill>
                <a:latin typeface="Pretendard ExtraBold"/>
              </a:rPr>
              <a:t>다음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843784"/>
            <a:ext cx="9144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EA851B"/>
                </a:solidFill>
                <a:latin typeface="Pretendard Black"/>
              </a:rPr>
              <a:t>W3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2843784"/>
            <a:ext cx="8229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81818"/>
                </a:solidFill>
                <a:latin typeface="Pretendard SemiBold"/>
              </a:rPr>
              <a:t>적대적 학습 — pix2pix GAN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557015"/>
            <a:ext cx="9144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EA851B"/>
                </a:solidFill>
                <a:latin typeface="Pretendard Black"/>
              </a:rPr>
              <a:t>W4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3557015"/>
            <a:ext cx="8229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81818"/>
                </a:solidFill>
                <a:latin typeface="Pretendard SemiBold"/>
              </a:rPr>
              <a:t>다른 아키텍처 비교 — Transformer · 3D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270248"/>
            <a:ext cx="9144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EA851B"/>
                </a:solidFill>
                <a:latin typeface="Pretendard Black"/>
              </a:rPr>
              <a:t>W5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4270248"/>
            <a:ext cx="8229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81818"/>
                </a:solidFill>
                <a:latin typeface="Pretendard SemiBold"/>
              </a:rPr>
              <a:t>한계 극복 기법 — tri-axis · multi-k · 증강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983480"/>
            <a:ext cx="9144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EA851B"/>
                </a:solidFill>
                <a:latin typeface="Pretendard Black"/>
              </a:rPr>
              <a:t>W6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4983480"/>
            <a:ext cx="82296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81818"/>
                </a:solidFill>
                <a:latin typeface="Pretendard SemiBold"/>
              </a:rPr>
              <a:t>Cross-domain 분석 — Zero-shot · Fine-tune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이번 주 학습 목표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W1 · 데이터 + Classical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3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143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700" b="0">
                <a:solidFill>
                  <a:srgbClr val="181818"/>
                </a:solidFill>
                <a:latin typeface="Pretendard SemiBold"/>
              </a:rPr>
              <a:t>256³ binary 부피의 로딩 · 정규화 · 시각화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700" b="0">
                <a:solidFill>
                  <a:srgbClr val="181818"/>
                </a:solidFill>
                <a:latin typeface="Pretendard SemiBold"/>
              </a:rPr>
              <a:t>Otsu 임계값과 binary 데이터에서의 한계 이해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700" b="0">
                <a:solidFill>
                  <a:srgbClr val="181818"/>
                </a:solidFill>
                <a:latin typeface="Pretendard SemiBold"/>
              </a:rPr>
              <a:t>네 도메인(BB · CastleGate · Bentheimer · Parker)의 통계 비교 + 등방성 검토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700" b="0">
                <a:solidFill>
                  <a:srgbClr val="181818"/>
                </a:solidFill>
                <a:latin typeface="Pretendard SemiBold"/>
              </a:rPr>
              <a:t>Sparse imaging 시뮬레이션과 평가 지표 (|Δφ|·|ΔSA|·SSIM)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7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700" b="0">
                <a:solidFill>
                  <a:srgbClr val="181818"/>
                </a:solidFill>
                <a:latin typeface="Pretendard SemiBold"/>
              </a:rPr>
              <a:t>Linear / Cubic spline 보간 도메인·k 전수 비교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데이터 사양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W1 · 데이터 + Classical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4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27432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EA851B"/>
                </a:solidFill>
                <a:latin typeface="Pretendard ExtraBold"/>
              </a:rPr>
              <a:t>파일 형식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371600"/>
            <a:ext cx="82296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81818"/>
                </a:solidFill>
                <a:latin typeface="Pretendard SemiBold"/>
              </a:rPr>
              <a:t>.bin (raw binary, header 없음)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27432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EA851B"/>
                </a:solidFill>
                <a:latin typeface="Pretendard ExtraBold"/>
              </a:rPr>
              <a:t>shape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011680"/>
            <a:ext cx="82296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81818"/>
                </a:solidFill>
                <a:latin typeface="Pretendard SemiBold"/>
              </a:rPr>
              <a:t>(256, 256, 256) — 약 1,677만 voxel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51760"/>
            <a:ext cx="27432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EA851B"/>
                </a:solidFill>
                <a:latin typeface="Pretendard ExtraBold"/>
              </a:rPr>
              <a:t>dtype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651760"/>
            <a:ext cx="82296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81818"/>
                </a:solidFill>
                <a:latin typeface="Pretendard SemiBold"/>
              </a:rPr>
              <a:t>uint8 (값은 0 또는 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291839"/>
            <a:ext cx="27432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EA851B"/>
                </a:solidFill>
                <a:latin typeface="Pretendard ExtraBold"/>
              </a:rPr>
              <a:t>값 의미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3291839"/>
            <a:ext cx="82296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81818"/>
                </a:solidFill>
                <a:latin typeface="Pretendard SemiBold"/>
              </a:rPr>
              <a:t>0 = solid (암석), 1 = pore (공극)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931920"/>
            <a:ext cx="27432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EA851B"/>
                </a:solidFill>
                <a:latin typeface="Pretendard ExtraBold"/>
              </a:rPr>
              <a:t>voxel 크기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931920"/>
            <a:ext cx="82296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81818"/>
                </a:solidFill>
                <a:latin typeface="Pretendard SemiBold"/>
              </a:rPr>
              <a:t>2.25 μm · 한 부피 ≈ 0.58 mm³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572000"/>
            <a:ext cx="27432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EA851B"/>
                </a:solidFill>
                <a:latin typeface="Pretendard ExtraBold"/>
              </a:rPr>
              <a:t>도메인 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4572000"/>
            <a:ext cx="82296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181818"/>
                </a:solidFill>
                <a:latin typeface="Pretendard SemiBold"/>
              </a:rPr>
              <a:t>4개 (BB · CastleGate · Bentheimer · Parker)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네 도메인 — 같은 z=128 슬라이스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W1 · 데이터 + Classical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5 / 14</a:t>
            </a:r>
          </a:p>
        </p:txBody>
      </p:sp>
      <p:pic>
        <p:nvPicPr>
          <p:cNvPr id="6" name="Picture 5" descr="fig1_domai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11612880" cy="31047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486400"/>
            <a:ext cx="11430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181818"/>
                </a:solidFill>
                <a:latin typeface="Pretendard SemiBold"/>
              </a:rPr>
              <a:t>도메인마다 공극률·구조·균질성이 다름. W6 cross-domain 분석의 사전 검토.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같은 부피의 세 축 슬라이스 (CastleGate)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W1 · 데이터 + Classical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6 / 14</a:t>
            </a:r>
          </a:p>
        </p:txBody>
      </p:sp>
      <p:pic>
        <p:nvPicPr>
          <p:cNvPr id="6" name="Picture 5" descr="fig2_three_ax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11247120" cy="40047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486400"/>
            <a:ext cx="11430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181818"/>
                </a:solidFill>
                <a:latin typeface="Pretendard SemiBold"/>
              </a:rPr>
              <a:t>동일 부피를 z·y·x 세 직교 평면으로 자른 결과. 슬라이스 위치도 모두 다르며, 세부 공극 패턴이 서로 다릅니다.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데이터 전처리 — 정규화 + Otsu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W1 · 데이터 + Classical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7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1430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normalize_to_float: uint8 [0, 255] → float [0, 1]. 학습 기반 모델 입력의 표준 전처리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otsu_threshold: 클래스 간 분산을 최대화하는 자동 임계값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본 데이터는 이미 binary이므로 Otsu는 trivial (0.5 부근)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실제 grayscale CT나 노이즈가 있는 데이터에서 Otsu의 가치가 드러남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Otsu 시각 — 인공 grayscale 예시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W1 · 데이터 + Classical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8 / 14</a:t>
            </a:r>
          </a:p>
        </p:txBody>
      </p:sp>
      <p:pic>
        <p:nvPicPr>
          <p:cNvPr id="6" name="Picture 5" descr="fig3_ot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11612880" cy="366546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394960"/>
            <a:ext cx="11430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181818"/>
                </a:solidFill>
                <a:latin typeface="Pretendard SemiBold"/>
              </a:rPr>
              <a:t>노이즈가 작으면 Otsu가 두 봉우리의 골짜기에 정확히 위치. 노이즈가 커지면 안정성이 떨어집니다.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Sparse Imaging — 문제 정의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W1 · 데이터 + Classical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9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EA851B"/>
                </a:solidFill>
                <a:latin typeface="Pretendard ExtraBold"/>
              </a:rPr>
              <a:t>배경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micro-CT 스캔은 시간 · 비용 모두 비쌈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56032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EA851B"/>
                </a:solidFill>
                <a:latin typeface="Pretendard ExtraBold"/>
              </a:rPr>
              <a:t>전략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0896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k 슬라이스마다 1개만 측정 → 시간 (1 − 1/k) × 100% 절감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k=3 → 67% 절감, k=5 → 80% 절감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핵심 질문: 측정되지 않은 슬라이스를 측정된 슬라이스로부터 얼마나 정확히 복원할 수 있는가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Linear vs Cubic 보간 (BB, z=62, k=5)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W1 · 데이터 + Classical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10 / 14</a:t>
            </a:r>
          </a:p>
        </p:txBody>
      </p:sp>
      <p:pic>
        <p:nvPicPr>
          <p:cNvPr id="6" name="Picture 5" descr="fig4_b1_vs_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11247120" cy="398996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486400"/>
            <a:ext cx="11430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181818"/>
                </a:solidFill>
                <a:latin typeface="Pretendard SemiBold"/>
              </a:rPr>
              <a:t>평가 지표 3종: |Δφ| (공극률 오차), |ΔSA| (표면적 오차), SSIM (구조 유사도)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k Sweep — 학습 기반 방법이 필요한 지점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W1 · 데이터 + Classical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11 / 14</a:t>
            </a:r>
          </a:p>
        </p:txBody>
      </p:sp>
      <p:pic>
        <p:nvPicPr>
          <p:cNvPr id="6" name="Picture 5" descr="fig5_motiv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188720"/>
            <a:ext cx="7589520" cy="37467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486400"/>
            <a:ext cx="11430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181818"/>
                </a:solidFill>
                <a:latin typeface="Pretendard SemiBold"/>
              </a:rPr>
              <a:t>k가 커질수록 모든 도메인의 |Δφ|가 증가합니다.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5897880"/>
            <a:ext cx="11430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7A7A"/>
                </a:solidFill>
                <a:latin typeface="Pretendard Medium"/>
              </a:rPr>
              <a:t>곡선이 가파르게 꺾이는 지점부터 단순 보간으로는 부족합니다 (W2~ deep learning).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탐구 과제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W1 · 데이터 + Classical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12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1430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필수 1 — 도메인 × {Linear, Cubic} × k=[2,3,5,7] 전수 비교 표 (DataFrame)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필수 2 — z·y·x 세 축 보간 비교 (등방성 정량 검토)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선택 3 — Otsu 민감도 분석 (인공 grayscale 노이즈 σ sweep)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선택 4 — Random sparse (무작위 33%) vs Deterministic k=3 비교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5486400"/>
            <a:ext cx="11430000" cy="731520"/>
          </a:xfrm>
          <a:prstGeom prst="roundRect">
            <a:avLst/>
          </a:prstGeom>
          <a:solidFill>
            <a:srgbClr val="FA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5669280"/>
            <a:ext cx="11064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181818"/>
                </a:solidFill>
                <a:latin typeface="Pretendard Medium"/>
              </a:rPr>
              <a:t>자세한 안내는 handout 참조. 본 노트북을 사본으로 복사한 뒤 코드 수정·분석·해석을 함께 정리해 제출합니다.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다음 주차 예고 — W2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W1 · 데이터 + Classical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13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972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EA851B"/>
                </a:solidFill>
                <a:latin typeface="Pretendard ExtraBold"/>
              </a:rPr>
              <a:t>Deep Learning 입문 — UNet / pix2pix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94560"/>
            <a:ext cx="10972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슬라이스 보간을 학습 가능한 함수로 정식화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UNet 기본 구조 (encoder · decoder · skip-connection)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pix2pix — 조건부 image-to-image 학습 흐름</a:t>
            </a:r>
          </a:p>
          <a:p>
            <a:pPr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EA851B"/>
                </a:solidFill>
                <a:latin typeface="Pretendard ExtraBold"/>
              </a:rPr>
              <a:t>•  </a:t>
            </a:r>
            <a:r>
              <a:rPr sz="1600" b="0">
                <a:solidFill>
                  <a:srgbClr val="181818"/>
                </a:solidFill>
                <a:latin typeface="Pretendard SemiBold"/>
              </a:rPr>
              <a:t>mini UNet을 학생 노트북(CPU)에서 직접 학습 + W1 baseline 비교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66928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A7A7A"/>
                </a:solidFill>
                <a:latin typeface="Consolas"/>
              </a:rPr>
              <a:t>pip install torch torchvision pytorch-msssim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4300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EA851B"/>
                </a:solidFill>
                <a:latin typeface="Pretendard Black"/>
              </a:rPr>
              <a:t>Q &amp; 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0120"/>
            <a:ext cx="1097280" cy="54864"/>
          </a:xfrm>
          <a:prstGeom prst="rect">
            <a:avLst/>
          </a:prstGeom>
          <a:solidFill>
            <a:srgbClr val="EA85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649224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W1 · 데이터 + Classical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9224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7A7A7A"/>
                </a:solidFill>
                <a:latin typeface="Pretendard Medium"/>
              </a:rPr>
              <a:t>14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10972800" cy="914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0">
                <a:solidFill>
                  <a:srgbClr val="181818"/>
                </a:solidFill>
                <a:latin typeface="Pretendard ExtraBold"/>
              </a:rPr>
              <a:t>질문 · 토론 환영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