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DIGITAL ROCK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적대적 학습 · 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두 신경망의 경쟁으로 복원의 흐림을 제거한다. 원리·수식부터 투과율 검증까지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지난 강의 요약과 남은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W1 → W2 성과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선형 보간 |Δφ| 6.87%p (k=1)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mini UNet + L1: 0.47%p, 14배 개선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pore 기하를 데이터에서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남은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이진화 전 출력이 흐리다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경계마다 0과 1 사이 회색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실제 암석에는 없는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A851B"/>
                </a:solidFill>
                <a:latin typeface="Pretendard SemiBold"/>
              </a:rPr>
              <a:t>회색이 생기는 원인, 그로 인한 문제, 제거 방법을 다룬다.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§1 픽셀 단위로 본 흐림의 원인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정답이 절반 확률로 0(고체) 또는 1(공극)인 픽셀 하나를 상정한다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L2 기대손실: ŷ=0.5(회색)가 유일한 최소, 회색을 보상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L1 기대손실: 0~1 어디든 0.5로 동일, 회색을 벌하지 않음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픽셀 단위 손실은 확신을 요구하는 압력을 만들지 못한다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8229600" cy="1280160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8229600" cy="1280160"/>
          </a:xfrm>
          <a:prstGeom prst="rect">
            <a:avLst/>
          </a:prstGeom>
          <a:noFill/>
        </p:spPr>
        <p:txBody>
          <a:bodyPr wrap="square" lIns="137160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181818"/>
                </a:solidFill>
                <a:latin typeface="Consolas"/>
              </a:rPr>
              <a:t>E[(y-yh)^2] = 0.5*yh^2 + 0.5*(1-yh)^2  -&gt;  min at yh=0.5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181818"/>
                </a:solidFill>
                <a:latin typeface="Consolas"/>
              </a:rPr>
              <a:t>E[|y-yh|]   = 0.5  (0&lt;=yh&lt;=1 전 구간 동일)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정답이 여럿일 때 L1의 선택: 평균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17</a:t>
            </a:r>
          </a:p>
        </p:txBody>
      </p:sp>
      <p:pic>
        <p:nvPicPr>
          <p:cNvPr id="6" name="Picture 5" descr="W3_average_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863840" cy="2264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pore가 A일 수도 B일 수도 있으면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손실 최적해 = 둘을 겹친 회색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실제 암석에 없는 이미지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필요한 압력: 하나를 확신 있게 출력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W2 모델 출력의 흐림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17</a:t>
            </a:r>
          </a:p>
        </p:txBody>
      </p:sp>
      <p:pic>
        <p:nvPicPr>
          <p:cNvPr id="6" name="Picture 5" descr="W3_continuou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6048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6035040"/>
            <a:ext cx="9418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k=5 조건의 mini 모델. 정답은 0↔1 계단, L1 모델은 완만한 경사(회색 14%, GAN 5%).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§2 GAN · 출력을 판정하는 두 번째 신경망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Generator (생성자)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실제와 유사한 슬라이스를 생성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W2의 mini UNet 그대로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판별자를 속이는 방향으로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Discriminator (판별자)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입력이 실제 단면인지 판정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새로 만드는 작은 CNN (~168K)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학습이 끝나면 배포에서 제외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A851B"/>
                </a:solidFill>
                <a:latin typeface="Pretendard SemiBold"/>
              </a:rPr>
              <a:t>실제 단면에 회색 경계는 없다 → 회색을 내면 판별자에 걸린다 → 생성자는 확신 있는 구조를 학습한다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목적 함수: min–max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17</a:t>
            </a:r>
          </a:p>
        </p:txBody>
      </p:sp>
      <p:pic>
        <p:nvPicPr>
          <p:cNvPr id="6" name="Picture 5" descr="W3_hing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2622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D: 진짜 ≥ +1, 가짜 ≤ −1 로 여유 있게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이미 확실한 표본은 벌점 0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G 손실 = −D(G(x)), 점수를 올리는 방향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log 원식보다 gradient가 안정적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교대 갱신: 한 배치에 D·G 순서로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7772400" cy="2468880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772400" cy="2468880"/>
          </a:xfrm>
          <a:prstGeom prst="rect">
            <a:avLst/>
          </a:prstGeom>
          <a:noFill/>
        </p:spPr>
        <p:txBody>
          <a:bodyPr wrap="square" lIns="137160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181818"/>
                </a:solidFill>
                <a:latin typeface="Consolas"/>
              </a:rPr>
              <a:t># STEP A - 판별자 (G는 detach로 보호)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181818"/>
                </a:solidFill>
                <a:latin typeface="Consolas"/>
              </a:rPr>
              <a:t>d_loss = d_hinge_loss(D, cond, y, G(x).detach())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181818"/>
                </a:solidFill>
                <a:latin typeface="Consolas"/>
              </a:rPr>
              <a:t>d_loss.backward(); opt_D.step()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181818"/>
                </a:solidFill>
                <a:latin typeface="Consolas"/>
              </a:rPr>
              <a:t># STEP B - 생성자 (D는 고정)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181818"/>
                </a:solidFill>
                <a:latin typeface="Consolas"/>
              </a:rPr>
              <a:t>g_loss = w1*L1 + ws*SSIM + lam*g_hinge_loss(D, cond, G(x))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181818"/>
                </a:solidFill>
                <a:latin typeface="Consolas"/>
              </a:rPr>
              <a:t>g_loss.backward(); opt_G.step()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7373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W2의 4박자 루프가 두 벌로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옵티마이저도 두 개 (opt_D · opt_G)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항상 상대의 최신 가중치와 대결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학습된 판별자가 반응하는 특징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17</a:t>
            </a:r>
          </a:p>
        </p:txBody>
      </p:sp>
      <p:pic>
        <p:nvPicPr>
          <p:cNvPr id="6" name="Picture 5" descr="W3_discriminato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8321040" cy="4992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0240" y="6217920"/>
            <a:ext cx="8321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SemiBold"/>
              </a:rPr>
              <a:t>실제 +0.30 · 흐린 L1 출력 −5.09 (강하게 거부) · GAN 출력 −0.59 (중립 근처)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§3 pix2pix 구성 요소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① 조건부: 판별자 입력에 이웃 슬라이스 포함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② PatchGAN: patch마다 점수 (15×15 점수 map)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③ spectral norm: 판별자 힘에 상한, 독주 차단</a:t>
            </a:r>
          </a:p>
        </p:txBody>
      </p:sp>
      <p:pic>
        <p:nvPicPr>
          <p:cNvPr id="7" name="Picture 6" descr="W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7223760" cy="31714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0"/>
            <a:ext cx="42062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5F"/>
                </a:solidFill>
                <a:latin typeface="Pretendard SemiBold"/>
              </a:rPr>
              <a:t>L_G = 1.0·L1 + 0.3·SSIM + λ·adversarial,  λ ≈ 0.1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§4 학습 안정화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실패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D 손실 → 0 고착 (독주, G에 gradient 없음)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손실 진동·NaN 발산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mode collapse: 한 답만 반복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안정화 레시피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warmup: 초반 λ=0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작은 λ(≈0.1) + 후반 감쇠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spectral norm · 균형 lr(2e-4)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곡선 모니터링 · detach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곡선 해석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17</a:t>
            </a:r>
          </a:p>
        </p:txBody>
      </p:sp>
      <p:pic>
        <p:nvPicPr>
          <p:cNvPr id="6" name="Picture 5" descr="W3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10515600" cy="40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GAN 시작 후에도 재구성 손실은 계속 하강, D 손실은 0에 붙지 않고 0.4 근처까지만 내려간다.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§5 검증 1: 복원 결과와 차이 영역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13 / 17</a:t>
            </a:r>
          </a:p>
        </p:txBody>
      </p:sp>
      <p:pic>
        <p:nvPicPr>
          <p:cNvPr id="6" name="Picture 5" descr="W3_gan_zoom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280160"/>
            <a:ext cx="7772400" cy="5492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4560" y="6217920"/>
            <a:ext cx="7772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가운데 원: GAN 없음은 pore를 끊어 가짜 solid 섬(오류 140px), GAN은 정답과 거의 동일(3px).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§5 검증 2·3: 공극률과 S2 두점 상관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14 / 17</a:t>
            </a:r>
          </a:p>
        </p:txBody>
      </p:sp>
      <p:pic>
        <p:nvPicPr>
          <p:cNvPr id="6" name="Picture 5" descr="W3_s2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863840" cy="3427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82880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400" b="0">
                <a:solidFill>
                  <a:srgbClr val="181818"/>
                </a:solidFill>
                <a:latin typeface="Pretendard SemiBold"/>
              </a:rPr>
              <a:t>볼륨 |Δφ|: 선형 3.10 → UNet 0.30 → GAN 0.19 %p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400" b="0">
                <a:solidFill>
                  <a:srgbClr val="181818"/>
                </a:solidFill>
                <a:latin typeface="Pretendard SemiBold"/>
              </a:rPr>
              <a:t>S2 평균 편차: GAN 5.5e-4 (GT 최근접)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400" b="0">
                <a:solidFill>
                  <a:srgbClr val="181818"/>
                </a:solidFill>
                <a:latin typeface="Pretendard SemiBold"/>
              </a:rPr>
              <a:t>선형 대비 약 37배(단 UNet과는 근소)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400" b="0">
                <a:solidFill>
                  <a:srgbClr val="181818"/>
                </a:solidFill>
                <a:latin typeface="Pretendard SemiBold"/>
              </a:rPr>
              <a:t>결정적 차이는 흐름 물리에서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§5 검증 4: 투과율 (LBM, 8개 도메인)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15 / 17</a:t>
            </a:r>
          </a:p>
        </p:txBody>
      </p:sp>
      <p:pic>
        <p:nvPicPr>
          <p:cNvPr id="6" name="Picture 5" descr="W3_lbm_perm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45514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8도메인 평균: 선형 14.2% → UNet+GAN 6.3% 오차. 세 축 통합(W5)까지 더하면 1.3%.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평가 지표별 민감도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1단 공극률 |Δφ|: 부피 비율, 배치·연결에는 둔감 (GAN 이득 있음)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2단 S2 상관: 구조의 통계, 배치가 다르면 갈림 (GAN 최근접)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3단 투과율: 흐름의 물리, 연결성에 지배됨 (GAN 가장 뚜렷, 14.2→6.3%)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복원 품질은 단일 지표로 판단하지 않는다. 용도가 요구하는 지표까지 올라가 검증한다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흐림은 픽셀 손실의 수학적 귀결이고, 판별자와의 경쟁이 회색에 벌점을 부여한다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실습: train_gan( ) 한 함수로 두 경로, 처음부터 또는 W2 체크포인트 이어받기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과제(필수): ① GAN 유무 비교 서술  ② λ sweep으로 선명도 ↔ |Δφ| 곡선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과제(선택): ③ warmup·spectral norm 안정성 실험  ④ 숫자는 비슷하나 구조는 다른 사례 찾기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다음 주 W4: Transformer · 3D 아키텍처와 비교. 체크포인트 보존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