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058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EA851B"/>
                </a:solidFill>
                <a:latin typeface="Pretendard ExtraBold"/>
              </a:rPr>
              <a:t>DIGITAL ROCK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058400" cy="1371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0">
                <a:solidFill>
                  <a:srgbClr val="181818"/>
                </a:solidFill>
                <a:latin typeface="Pretendard Black"/>
              </a:rPr>
              <a:t>적대적 학습 — pix2pix GAN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7A7A7A"/>
                </a:solidFill>
                <a:latin typeface="Pretendard SemiBold"/>
              </a:rPr>
              <a:t>두 신경망을 경쟁시켜 흐림 없는 복원을 — 원리·수식부터 투과율 검증까지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17920"/>
            <a:ext cx="10058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A7A7A"/>
                </a:solidFill>
                <a:latin typeface="Pretendard Medium"/>
              </a:rPr>
              <a:t>Digital Rock — Sparse Slice Interpolation · 6주 학생 코스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여기까지 왔습니다 — 그리고 하나가 남았습니다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2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Black"/>
              </a:rPr>
              <a:t>W1 → W2 성과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선형 보간 |Δφ| 6.87%p (k=1)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mini UNet + L1: 0.47%p — 14배 개선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pore 기하를 데이터에서 학습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Black"/>
              </a:rPr>
              <a:t>남은 문제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이진화 전 출력이 흐리다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경계마다 0과 1 사이 회색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진짜 암석에는 없는 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66928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EA851B"/>
                </a:solidFill>
                <a:latin typeface="Pretendard SemiBold"/>
              </a:rPr>
              <a:t>왜 회색이 생기고, 왜 문제이며, 어떻게 없애는가 — 오늘의 전부입니다.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§1 픽셀 하나로 계산하는 흐림의 근원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3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789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정답이 절반 확률로 0(고체) 또는 1(공극)인 픽셀 하나를 생각합니다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L2 기대손실: ŷ=0.5(회색)가 유일한 최소 — 회색을 보상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L1 기대손실: 0~1 어디든 0.5로 동일 — 회색을 벌하지 않음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결론: 픽셀 단위 손실은 "확신하라"는 압력을 만들지 못한다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572000"/>
            <a:ext cx="8229600" cy="1280160"/>
          </a:xfrm>
          <a:prstGeom prst="roundRect">
            <a:avLst/>
          </a:prstGeom>
          <a:solidFill>
            <a:srgbClr val="F6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31520" y="4572000"/>
            <a:ext cx="8229600" cy="1280160"/>
          </a:xfrm>
          <a:prstGeom prst="rect">
            <a:avLst/>
          </a:prstGeom>
          <a:noFill/>
        </p:spPr>
        <p:txBody>
          <a:bodyPr wrap="square" lIns="137160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400" b="0">
                <a:solidFill>
                  <a:srgbClr val="181818"/>
                </a:solidFill>
                <a:latin typeface="Consolas"/>
              </a:rPr>
              <a:t>E[(y-yh)^2] = 0.5*yh^2 + 0.5*(1-yh)^2  -&gt;  min at yh=0.5</a:t>
            </a:r>
          </a:p>
          <a:p>
            <a:pPr>
              <a:lnSpc>
                <a:spcPct val="120000"/>
              </a:lnSpc>
            </a:pPr>
            <a:r>
              <a:rPr sz="1400" b="0">
                <a:solidFill>
                  <a:srgbClr val="181818"/>
                </a:solidFill>
                <a:latin typeface="Consolas"/>
              </a:rPr>
              <a:t>E[|y-yh|]   = 0.5  (0&lt;=yh&lt;=1 어디서나 동일)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정답이 여럿이면 손실은 "평균"을 고릅니다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4 / 17</a:t>
            </a:r>
          </a:p>
        </p:txBody>
      </p:sp>
      <p:pic>
        <p:nvPicPr>
          <p:cNvPr id="6" name="Picture 5" descr="W3_average_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7863840" cy="232619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0" y="182880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pore가 A일 수도 B일 수도 있으면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손실 최적해 = 둘을 겹친 회색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진짜 암석에 없는 이미지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필요한 압력: "하나를 확신 있게"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실측 — 이진화 전 출력의 회색 번짐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5 / 17</a:t>
            </a:r>
          </a:p>
        </p:txBody>
      </p:sp>
      <p:pic>
        <p:nvPicPr>
          <p:cNvPr id="6" name="Picture 5" descr="W3_continuous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9418320" cy="60485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71600" y="6035040"/>
            <a:ext cx="94183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7A7A"/>
                </a:solidFill>
                <a:latin typeface="Pretendard SemiBold"/>
              </a:rPr>
              <a:t>k=5 조건의 mini 모델. 정답은 0↔1 계단, L1 모델은 완만한 경사(회색 16%, GAN 8%).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§2 GAN — 그림을 심사하는 두 번째 신경망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6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Black"/>
              </a:rPr>
              <a:t>Generator (생성자)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위조범 — 그럴듯하게 만든다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W2의 mini UNet 그대로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판별자를 속이는 방향으로 학습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Black"/>
              </a:rPr>
              <a:t>Discriminator (판별자)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감별사 — 진짜인지 심사한다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새로 만드는 작은 CNN (~168K)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학습이 끝나면 배포에서 제외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577840"/>
            <a:ext cx="10972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EA851B"/>
                </a:solidFill>
                <a:latin typeface="Pretendard SemiBold"/>
              </a:rPr>
              <a:t>진짜 단면에 회색 경계는 없다 → 회색을 내면 들킨다 → 생성자는 확신 있는 구조를 배운다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min-max 게임과 hinge 손실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7 / 17</a:t>
            </a:r>
          </a:p>
        </p:txBody>
      </p:sp>
      <p:pic>
        <p:nvPicPr>
          <p:cNvPr id="6" name="Picture 5" descr="W3_hinge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7498079" cy="26223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21040" y="1828800"/>
            <a:ext cx="3657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D: 진짜 ≥ +1, 가짜 ≤ −1 로 여유 있게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이미 확실한 표본은 벌점 0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G 손실 = −D(G(x)) — 점수를 올리는 방향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log 원식보다 gradient가 안정적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한 배치, 두 번의 갱신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8 / 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7772400" cy="2468880"/>
          </a:xfrm>
          <a:prstGeom prst="roundRect">
            <a:avLst/>
          </a:prstGeom>
          <a:solidFill>
            <a:srgbClr val="F6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7772400" cy="2468880"/>
          </a:xfrm>
          <a:prstGeom prst="rect">
            <a:avLst/>
          </a:prstGeom>
          <a:noFill/>
        </p:spPr>
        <p:txBody>
          <a:bodyPr wrap="square" lIns="137160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400" b="0">
                <a:solidFill>
                  <a:srgbClr val="181818"/>
                </a:solidFill>
                <a:latin typeface="Consolas"/>
              </a:rPr>
              <a:t># STEP A - 판별자 (G는 detach로 보호)</a:t>
            </a:r>
          </a:p>
          <a:p>
            <a:pPr>
              <a:lnSpc>
                <a:spcPct val="120000"/>
              </a:lnSpc>
            </a:pPr>
            <a:r>
              <a:rPr sz="1400" b="0">
                <a:solidFill>
                  <a:srgbClr val="181818"/>
                </a:solidFill>
                <a:latin typeface="Consolas"/>
              </a:rPr>
              <a:t>d_loss = d_hinge_loss(D, cond, y, G(x).detach())</a:t>
            </a:r>
          </a:p>
          <a:p>
            <a:pPr>
              <a:lnSpc>
                <a:spcPct val="120000"/>
              </a:lnSpc>
            </a:pPr>
            <a:r>
              <a:rPr sz="1400" b="0">
                <a:solidFill>
                  <a:srgbClr val="181818"/>
                </a:solidFill>
                <a:latin typeface="Consolas"/>
              </a:rPr>
              <a:t>d_loss.backward(); opt_D.step()</a:t>
            </a:r>
          </a:p>
          <a:p>
            <a:pPr>
              <a:lnSpc>
                <a:spcPct val="120000"/>
              </a:lnSpc>
            </a:pPr>
            <a:r>
              <a:rPr sz="1400" b="0">
                <a:solidFill>
                  <a:srgbClr val="181818"/>
                </a:solidFill>
                <a:latin typeface="Consolas"/>
              </a:rPr>
              <a:t># STEP B - 생성자 (D는 고정)</a:t>
            </a:r>
          </a:p>
          <a:p>
            <a:pPr>
              <a:lnSpc>
                <a:spcPct val="120000"/>
              </a:lnSpc>
            </a:pPr>
            <a:r>
              <a:rPr sz="1400" b="0">
                <a:solidFill>
                  <a:srgbClr val="181818"/>
                </a:solidFill>
                <a:latin typeface="Consolas"/>
              </a:rPr>
              <a:t>g_loss = w1*L1 + ws*SSIM + lam*g_hinge_loss(D, cond, G(x))</a:t>
            </a:r>
          </a:p>
          <a:p>
            <a:pPr>
              <a:lnSpc>
                <a:spcPct val="120000"/>
              </a:lnSpc>
            </a:pPr>
            <a:r>
              <a:rPr sz="1400" b="0">
                <a:solidFill>
                  <a:srgbClr val="181818"/>
                </a:solidFill>
                <a:latin typeface="Consolas"/>
              </a:rPr>
              <a:t>g_loss.backward(); opt_G.step()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737360"/>
            <a:ext cx="3108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W2의 4박자 루프가 두 벌로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옵티마이저도 두 개 (opt_D · opt_G)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항상 상대의 최신판과 대결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실측 — 학습된 판별자가 보는 것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9 / 17</a:t>
            </a:r>
          </a:p>
        </p:txBody>
      </p:sp>
      <p:pic>
        <p:nvPicPr>
          <p:cNvPr id="6" name="Picture 5" descr="W3_discriminator_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1280160"/>
            <a:ext cx="8321040" cy="49926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920240" y="6217920"/>
            <a:ext cx="83210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7A7A"/>
                </a:solidFill>
                <a:latin typeface="Pretendard SemiBold"/>
              </a:rPr>
              <a:t>진짜 +2.19 · 흐린 L1 출력 −4.59 (강하게 들킴) · GAN 출력 +0.46 (거의 속음)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§3 우리 문제에 맞추는 세 장치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10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972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① 조건부 — 판별자도 이웃(문제지)을 본다: "이웃 사이에 올 법한 단면인가"까지 심사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② PatchGAN — 조각(patch)마다 점수: 국소 경계·텍스처에 민감 (16×16 점수 map)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③ spectral norm — 판별자 힘에 상한(Lipschitz ≤ 1): 독주를 구조적으로 차단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4632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F3A5F"/>
                </a:solidFill>
                <a:latin typeface="Pretendard SemiBold"/>
              </a:rPr>
              <a:t>전체 손실:  L_G = 1.0·L1 (정확도) + 0.3·SSIM (구조) + λ·adversarial (사실감),  λ ≈ 0.1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§4 줄다리기를 무너지지 않게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11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Black"/>
              </a:rPr>
              <a:t>실패 신호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D 손실 → 0 고착 (독주, G에 gradient 없음)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손실 진동·NaN 발산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mode collapse — 한 답만 반복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Black"/>
              </a:rPr>
              <a:t>안정화 레시피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warmup: 초반 λ=0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작은 λ(≈0.1) + 후반 감쇠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spectral norm · 균형 lr(2e-4)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곡선 모니터링 · detach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실측 — 균형 잡힌 줄다리기의 곡선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12 / 17</a:t>
            </a:r>
          </a:p>
        </p:txBody>
      </p:sp>
      <p:pic>
        <p:nvPicPr>
          <p:cNvPr id="6" name="Picture 5" descr="W3_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71600"/>
            <a:ext cx="10515600" cy="40023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7A7A"/>
                </a:solidFill>
                <a:latin typeface="Pretendard SemiBold"/>
              </a:rPr>
              <a:t>GAN 시작 후에도 재구성 손실은 계속 하강, D 손실은 0에 붙지 않고 0.3~0.5로 회복.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§5 검증 1 — 차이가 큰 곳을 짚어서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13 / 17</a:t>
            </a:r>
          </a:p>
        </p:txBody>
      </p:sp>
      <p:pic>
        <p:nvPicPr>
          <p:cNvPr id="6" name="Picture 5" descr="W3_gan_zoom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1280160"/>
            <a:ext cx="7772400" cy="54924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94560" y="6217920"/>
            <a:ext cx="7772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7A7A"/>
                </a:solidFill>
                <a:latin typeface="Pretendard SemiBold"/>
              </a:rPr>
              <a:t>가운데 원: GAN 없음은 pore를 끊어 가짜 solid 섬(오류 140px), GAN은 정답과 거의 동일(3px).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§5 검증 2·3 — 공극률과 구조 통계 S2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14 / 17</a:t>
            </a:r>
          </a:p>
        </p:txBody>
      </p:sp>
      <p:pic>
        <p:nvPicPr>
          <p:cNvPr id="6" name="Picture 5" descr="W3_s2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7863840" cy="34274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182880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400" b="0">
                <a:solidFill>
                  <a:srgbClr val="181818"/>
                </a:solidFill>
                <a:latin typeface="Pretendard SemiBold"/>
              </a:rPr>
              <a:t>볼륨 |Δφ|: 선형 3.10 → UNet 0.30 → GAN 0.19 %p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400" b="0">
                <a:solidFill>
                  <a:srgbClr val="181818"/>
                </a:solidFill>
                <a:latin typeface="Pretendard SemiBold"/>
              </a:rPr>
              <a:t>S2 평균 편차: GAN 5.5e-4 (GT 최근접)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400" b="0">
                <a:solidFill>
                  <a:srgbClr val="181818"/>
                </a:solidFill>
                <a:latin typeface="Pretendard SemiBold"/>
              </a:rPr>
              <a:t>선형 대비 약 37배 — 단 UNet과는 근소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400" b="0">
                <a:solidFill>
                  <a:srgbClr val="181818"/>
                </a:solidFill>
                <a:latin typeface="Pretendard SemiBold"/>
              </a:rPr>
              <a:t>결정적 차이는 흐름 물리에서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§5 검증 4 — 투과율 (LBM, 8개 도메인)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15 / 17</a:t>
            </a:r>
          </a:p>
        </p:txBody>
      </p:sp>
      <p:pic>
        <p:nvPicPr>
          <p:cNvPr id="6" name="Picture 5" descr="W3_lbm_perme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10881360" cy="45514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7A7A"/>
                </a:solidFill>
                <a:latin typeface="Pretendard SemiBold"/>
              </a:rPr>
              <a:t>8도메인 평균: 선형 14.2% → UNet+GAN 6.3% 오차. 세 축 통합(W5)까지 더하면 1.3%.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평가의 교훈 — 지표의 사다리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16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9728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1단 공극률 |Δφ| — 부피 비율. 배치·연결은 못 봄 (GAN 이득: 있음)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2단 S2 상관 — 구조의 통계. 배치가 다르면 갈림 (GAN 이득: 최근접)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3단 투과율 — 흐름의 물리. 연결성이 전부 (GAN 이득: 가장 뚜렷, 14.2→6.3%)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복원 품질은 숫자 하나로 판단하지 않는다 — 용도가 요구하는 지표까지 올라가 검증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정리 · 실습 · 다음 주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17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700" b="0">
                <a:solidFill>
                  <a:srgbClr val="181818"/>
                </a:solidFill>
                <a:latin typeface="Pretendard SemiBold"/>
              </a:rPr>
              <a:t>흐림은 픽셀 손실의 수학적 귀결 → 판별자와의 경쟁이 "회색 벌점"을 만든다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700" b="0">
                <a:solidFill>
                  <a:srgbClr val="181818"/>
                </a:solidFill>
                <a:latin typeface="Pretendard SemiBold"/>
              </a:rPr>
              <a:t>실습: train_gan( ) 한 함수, 두 경로 — 처음부터 / W2 체크포인트 이어받기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700" b="0">
                <a:solidFill>
                  <a:srgbClr val="181818"/>
                </a:solidFill>
                <a:latin typeface="Pretendard SemiBold"/>
              </a:rPr>
              <a:t>과제(필수): ① GAN 유무 비교 서술  ② λ sweep — 선명도 ↔ |Δφ| 곡선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700" b="0">
                <a:solidFill>
                  <a:srgbClr val="181818"/>
                </a:solidFill>
                <a:latin typeface="Pretendard SemiBold"/>
              </a:rPr>
              <a:t>과제(선택): ③ warmup·spectral norm 안정성 실험  ④ "숫자는 비슷, 구조는 다른" 사례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700" b="0">
                <a:solidFill>
                  <a:srgbClr val="181818"/>
                </a:solidFill>
                <a:latin typeface="Pretendard SemiBold"/>
              </a:rPr>
              <a:t>다음 주 W4: Transformer · 3D 아키텍처와 정면 비교 — 체크포인트 보존!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