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DIGITAL ROCK ·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05840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0">
                <a:solidFill>
                  <a:srgbClr val="181818"/>
                </a:solidFill>
                <a:latin typeface="Pretendard Black"/>
              </a:rPr>
              <a:t>딥러닝 아키텍처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7A7A7A"/>
                </a:solidFill>
                <a:latin typeface="Pretendard SemiBold"/>
              </a:rPr>
              <a:t>대안 구조(Transformer · 3D CNN · diffusion)를 우리 pix2pix 접근과 같은 조건에서 비교한다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7A7A7A"/>
                </a:solidFill>
                <a:latin typeface="Pretendard Medium"/>
              </a:rPr>
              <a:t>Digital Rock — Sparse Slice Interpolation · 6주 학생 코스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지난 강의 요약과 이번 주 질문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Week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2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EA851B"/>
                </a:solidFill>
                <a:latin typeface="Pretendard Black"/>
              </a:rPr>
              <a:t>우리 방법 (개선 축)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pix2pix · 손실 · 다채널 입력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GAN (W3) · 다축 융합 (W5)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구조 뼈대는 2D 합성곱 유지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EA851B"/>
                </a:solidFill>
                <a:latin typeface="Pretendard Black"/>
              </a:rPr>
              <a:t>비교군 (검증 축, 이번 주)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Transformer (Swin)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3D CNN · diffusion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채택 대상 아닌 비교 기준(baseline)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6692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EA851B"/>
                </a:solidFill>
                <a:latin typeface="Pretendard SemiBold"/>
              </a:rPr>
              <a:t>비교군은 우리 접근이 좋은지 판단할 기준이다. 대규모 결과에서 우리 모델(MAPS)이 이들을 앞선다.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§1 합성곱의 시야: 수용 영역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Week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3 / 17</a:t>
            </a:r>
          </a:p>
        </p:txBody>
      </p:sp>
      <p:pic>
        <p:nvPicPr>
          <p:cNvPr id="6" name="Picture 5" descr="W4_receptive_f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8229600" cy="344146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052560" y="1828800"/>
            <a:ext cx="2926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500" b="0">
                <a:solidFill>
                  <a:srgbClr val="181818"/>
                </a:solidFill>
                <a:latin typeface="Pretendard SemiBold"/>
              </a:rPr>
              <a:t>출력 1픽셀은 주변 3×3만 본다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500" b="0">
                <a:solidFill>
                  <a:srgbClr val="181818"/>
                </a:solidFill>
                <a:latin typeface="Pretendard SemiBold"/>
              </a:rPr>
              <a:t>수용 영역은 층당 +2 (3층 = 7픽셀)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500" b="0">
                <a:solidFill>
                  <a:srgbClr val="181818"/>
                </a:solidFill>
                <a:latin typeface="Pretendard SemiBold"/>
              </a:rPr>
              <a:t>전역 관계 = 깊이의 비용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500" b="0">
                <a:solidFill>
                  <a:srgbClr val="181818"/>
                </a:solidFill>
                <a:latin typeface="Pretendard SemiBold"/>
              </a:rPr>
              <a:t>가중치는 내용과 무관하게 고정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§2 attention: 내용이 정하는 가중 평균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Week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4 / 17</a:t>
            </a:r>
          </a:p>
        </p:txBody>
      </p:sp>
      <p:pic>
        <p:nvPicPr>
          <p:cNvPr id="6" name="Picture 5" descr="W4_attention_id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8412480" cy="3670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235440" y="2011680"/>
            <a:ext cx="2743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500" b="0">
                <a:solidFill>
                  <a:srgbClr val="181818"/>
                </a:solidFill>
                <a:latin typeface="Pretendard SemiBold"/>
              </a:rPr>
              <a:t>합성곱: 위치 기반 고정 가중치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500" b="0">
                <a:solidFill>
                  <a:srgbClr val="181818"/>
                </a:solidFill>
                <a:latin typeface="Pretendard SemiBold"/>
              </a:rPr>
              <a:t>attention: 유사도 기반 동적 가중치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500" b="0">
                <a:solidFill>
                  <a:srgbClr val="181818"/>
                </a:solidFill>
                <a:latin typeface="Pretendard SemiBold"/>
              </a:rPr>
              <a:t>참고할 곳을 실행 시점에 계산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Attention(Q,K,V) = softmax(QKᵀ/√d)V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Week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5 / 17</a:t>
            </a:r>
          </a:p>
        </p:txBody>
      </p:sp>
      <p:pic>
        <p:nvPicPr>
          <p:cNvPr id="6" name="Picture 5" descr="W4_qkv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607040" cy="4277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493776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500" b="0">
                <a:solidFill>
                  <a:srgbClr val="181818"/>
                </a:solidFill>
                <a:latin typeface="Pretendard SemiBold"/>
              </a:rPr>
              <a:t>Q(질의)·K(색인)·V(내용): 같은 입력의 세 선형 변환 (학습 대상)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500" b="0">
                <a:solidFill>
                  <a:srgbClr val="181818"/>
                </a:solidFill>
                <a:latin typeface="Pretendard SemiBold"/>
              </a:rPr>
              <a:t>QKᵀ = 모든 토큰 쌍의 점곱 유사도  ·  ÷√d = softmax 포화 방지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500" b="0">
                <a:solidFill>
                  <a:srgbClr val="181818"/>
                </a:solidFill>
                <a:latin typeface="Pretendard SemiBold"/>
              </a:rPr>
              <a:t>softmax 행 합=1 가중치로 V 를 가중 평균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attention 수치 예시 (토큰 3개 · d=2)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Week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6 / 17</a:t>
            </a:r>
          </a:p>
        </p:txBody>
      </p:sp>
      <p:pic>
        <p:nvPicPr>
          <p:cNvPr id="6" name="Picture 5" descr="W4_attention_numer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11064240" cy="46027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7A7A7A"/>
                </a:solidFill>
                <a:latin typeface="Pretendard SemiBold"/>
              </a:rPr>
              <a:t>x₃=[1,1]은 둘 다와 비슷 → 가중치 [0.25, 0.25, 0.50] → 출력 [5,5] = 내용의 중간값. 노트북 §2에서 직접 실행.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√d 나눗셈: softmax 포화 방지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Week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7 / 17</a:t>
            </a:r>
          </a:p>
        </p:txBody>
      </p:sp>
      <p:pic>
        <p:nvPicPr>
          <p:cNvPr id="6" name="Picture 5" descr="W4_softmax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966960" cy="416800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7280" y="5943600"/>
            <a:ext cx="99669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7A7A7A"/>
                </a:solidFill>
                <a:latin typeface="Pretendard SemiBold"/>
              </a:rPr>
              <a:t>점수 [8,0,−8] 그대로면 [1.00, 0.00, 0.00] 포화 · ÷√64 후 [0.67, 0.24, 0.09]로 분포 회복 → 기울기 유지.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§3 창 분할: N² 비용을 창 안에 가둔다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Week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8 / 17</a:t>
            </a:r>
          </a:p>
        </p:txBody>
      </p:sp>
      <p:pic>
        <p:nvPicPr>
          <p:cNvPr id="6" name="Picture 5" descr="W4_window_part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8229600" cy="344146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052560" y="1828800"/>
            <a:ext cx="2926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500" b="0">
                <a:solidFill>
                  <a:srgbClr val="181818"/>
                </a:solidFill>
                <a:latin typeface="Pretendard SemiBold"/>
              </a:rPr>
              <a:t>픽셀 전부: 43억 쌍 (불가능)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500" b="0">
                <a:solidFill>
                  <a:srgbClr val="181818"/>
                </a:solidFill>
                <a:latin typeface="Pretendard SemiBold"/>
              </a:rPr>
              <a:t>4×4 패치 임베딩: ÷256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500" b="0">
                <a:solidFill>
                  <a:srgbClr val="181818"/>
                </a:solidFill>
                <a:latin typeface="Pretendard SemiBold"/>
              </a:rPr>
              <a:t>8×8 창 64개: ÷64 → 26만 쌍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500" b="0">
                <a:solidFill>
                  <a:srgbClr val="181818"/>
                </a:solidFill>
                <a:latin typeface="Pretendard SemiBold"/>
              </a:rPr>
              <a:t>대가: 창 밖과 연결 없음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창 이동(shifted window): 경계를 넘는 연결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Week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9 / 17</a:t>
            </a:r>
          </a:p>
        </p:txBody>
      </p:sp>
      <p:pic>
        <p:nvPicPr>
          <p:cNvPr id="6" name="Picture 5" descr="W4_shifted_win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10515600" cy="439743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7A7A7A"/>
                </a:solidFill>
                <a:latin typeface="Pretendard SemiBold"/>
              </a:rPr>
              <a:t>고정 창(W-MSA)과 절반 이동 창(SW-MSA)을 번갈아 쌓으면 정보가 창 경계를 넘어 전달된다. 구현은 torch.roll.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SwinUNetMini: U-구조에 Swin 블록 (124,641)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Week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10 / 17</a:t>
            </a:r>
          </a:p>
        </p:txBody>
      </p:sp>
      <p:pic>
        <p:nvPicPr>
          <p:cNvPr id="6" name="Picture 5" descr="W4_swinunet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371600"/>
            <a:ext cx="9784080" cy="433463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A851B"/>
                </a:solidFill>
                <a:latin typeface="Pretendard SemiBold"/>
              </a:rPr>
              <a:t>최상단 full-res skip이 없던 첫 버전은 "전부 solid" 자명해에 갇혔다(|Δφ|≈26.7%p). stem skip 추가 후 정상 학습(≈2%p).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§4 3D 합성곱: 시야 한 차원의 비용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Week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11 / 17</a:t>
            </a:r>
          </a:p>
        </p:txBody>
      </p:sp>
      <p:pic>
        <p:nvPicPr>
          <p:cNvPr id="6" name="Picture 5" descr="W4_conv2d_vs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71600"/>
            <a:ext cx="10515600" cy="45886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7A7A7A"/>
                </a:solidFill>
                <a:latin typeface="Pretendard SemiBold"/>
              </a:rPr>
              <a:t>3×3=9 → 3×3×3=27 가중치 (같은 채널 기준 3배). 슬라이스 사이(z) 연속성을 연산 단위에서 직접 본다.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공정한 입력과 정보 누출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Week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12 / 17</a:t>
            </a:r>
          </a:p>
        </p:txBody>
      </p:sp>
      <p:pic>
        <p:nvPicPr>
          <p:cNvPr id="6" name="Picture 5" descr="W4_leak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804672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869680" y="1828800"/>
            <a:ext cx="3108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500" b="0">
                <a:solidFill>
                  <a:srgbClr val="181818"/>
                </a:solidFill>
                <a:latin typeface="Pretendard SemiBold"/>
              </a:rPr>
              <a:t>3D 입력에도 이웃 t±k 두 장만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500" b="0">
                <a:solidFill>
                  <a:srgbClr val="181818"/>
                </a:solidFill>
                <a:latin typeface="Pretendard SemiBold"/>
              </a:rPr>
              <a:t>t±1이 새면 SSIM 0.823→0.953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500" b="0">
                <a:solidFill>
                  <a:srgbClr val="181818"/>
                </a:solidFill>
                <a:latin typeface="Pretendard SemiBold"/>
              </a:rPr>
              <a:t>+0.13은 실력이 아니라 누출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500" b="0">
                <a:solidFill>
                  <a:srgbClr val="181818"/>
                </a:solidFill>
                <a:latin typeface="Pretendard SemiBold"/>
              </a:rPr>
              <a:t>지표 전에 입력부터 확인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§5 공정 비교의 세 원칙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Week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13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① 같은 데이터: 같은 volume · 같은 triplet · 같은 평가 영역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② 같은 입력 정보: 모든 모델이 이웃 t±k 두 장만 (누출 점검)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③ 같은 예산: 미니는 파라미터 고정(구조 분리), 대규모는 시간 고정(실전)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48056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EA851B"/>
                </a:solidFill>
                <a:latin typeface="Pretendard SemiBold"/>
              </a:rPr>
              <a:t>믿지 말 것: 파라미터 수. 1.1M attention 모델이 24.5M 모델에 근접하는 사례가 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대규모 실험: trade-off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Week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14 / 17</a:t>
            </a:r>
          </a:p>
        </p:txBody>
      </p:sp>
      <p:pic>
        <p:nvPicPr>
          <p:cNvPr id="6" name="Picture 5" descr="W4_tradeoff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371600"/>
            <a:ext cx="10149840" cy="4511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7A7A7A"/>
                </a:solidFill>
                <a:latin typeface="Pretendard SemiBold"/>
              </a:rPr>
              <a:t>별=우리 모델(MAPS) 0.935/0.122%p 최우수 · 2D UNet 0.932/0.265 · SwinUNet(1/22) 0.926/0.343 · 3D 0.914/0.402 · diffusion off-Pareto.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속도와 연산량: 3D의 숨은 비용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Week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15 / 17</a:t>
            </a:r>
          </a:p>
        </p:txBody>
      </p:sp>
      <p:pic>
        <p:nvPicPr>
          <p:cNvPr id="6" name="Picture 5" descr="W4_speed_fl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71600"/>
            <a:ext cx="10515600" cy="45886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7A7A7A"/>
                </a:solidFill>
                <a:latin typeface="Pretendard SemiBold"/>
              </a:rPr>
              <a:t>파라미터 동급이어도 3D는 슬라이스당 약 9배 느리다 (연산량 비 ×9.5와 일치). 속도는 연산 구조가 정한다.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§6 실습: 90초 공정 비교 (실행 예시)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Week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16 / 17</a:t>
            </a:r>
          </a:p>
        </p:txBody>
      </p:sp>
      <p:pic>
        <p:nvPicPr>
          <p:cNvPr id="6" name="Picture 5" descr="W4_mini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280160"/>
            <a:ext cx="9326880" cy="359327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7A7A7A"/>
                </a:solidFill>
                <a:latin typeface="Pretendard SemiBold"/>
              </a:rPr>
              <a:t>Bentheimer k=2 · CPU 90초/모델: 우리 방식(GAN) |Δφ| 0.37%p 최저 · 2D UNet SSIM 0.587 최고. GAN 은 물성 보존에서 앞선다.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요약 · 다음 주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Week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17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EA851B"/>
                </a:solidFill>
                <a:latin typeface="Pretendard Black"/>
              </a:rPr>
              <a:t>구조는 거래다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2D conv: 귀납 편향 적합, 빠름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Swin: 파라미터 효율·유연, 데이터 요구↑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3D: 부피 문맥, 스텝 비용↑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EA851B"/>
                </a:solidFill>
                <a:latin typeface="Pretendard Black"/>
              </a:rPr>
              <a:t>W5 예고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구조 교체 없이 이기는 법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3축 융합 · multi-k · 증강/후처리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오늘 results 표 = 개선 기준선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7784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EA851B"/>
                </a:solidFill>
                <a:latin typeface="Pretendard SemiBold"/>
              </a:rPr>
              <a:t>"최고의 구조"는 없다. 문제·데이터·예산이 정하는 최적 구조가 있을 뿐이다.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